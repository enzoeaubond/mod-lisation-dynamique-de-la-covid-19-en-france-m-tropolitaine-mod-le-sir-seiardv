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65" r:id="rId8"/>
    <p:sldId id="266" r:id="rId9"/>
    <p:sldId id="267" r:id="rId10"/>
    <p:sldId id="259" r:id="rId11"/>
    <p:sldId id="260" r:id="rId12"/>
    <p:sldId id="261" r:id="rId13"/>
    <p:sldId id="268" r:id="rId14"/>
    <p:sldId id="269" r:id="rId15"/>
    <p:sldId id="262" r:id="rId16"/>
    <p:sldId id="263" r:id="rId17"/>
    <p:sldId id="264" r:id="rId18"/>
    <p:sldId id="270" r:id="rId19"/>
    <p:sldId id="271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00"/>
    <a:srgbClr val="C70505"/>
    <a:srgbClr val="EDE997"/>
    <a:srgbClr val="C1B95D"/>
    <a:srgbClr val="C60CCB"/>
    <a:srgbClr val="B6545C"/>
    <a:srgbClr val="005954"/>
    <a:srgbClr val="D5FFFF"/>
    <a:srgbClr val="9CE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BF64E-0E29-4582-95E7-2D26300CEAD5}" v="44" dt="2025-11-22T18:42:20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5DEF40-8D4B-4487-B9FE-1C9FE54859A4}" type="datetimeFigureOut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0161E-B53D-4BEB-B938-AB64A8882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501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745960-AABF-5318-DC7D-46F194105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595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6A1045-B5ED-BF1D-E2AC-1A536BA14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1B95D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288CCC-6E4E-E655-82A5-6617F23CE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D96A2-791B-4185-A1FF-3C35DBD4C62F}" type="datetime1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FAF7DA-0306-DCAC-A611-103A2CB8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47BCAD-55CE-C8C0-DA9B-85649135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90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5DE1E5-25B3-1245-D394-C859B3AB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95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7150B7-65B8-5033-905B-3A36E3313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3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6DB757-ADCA-6F4A-B093-A76E52A2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82C3-B01A-4E82-BB2A-2DF5250F077F}" type="datetime1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DC70E2-304D-9B1E-0C68-EDF07D2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C32C59-C3E6-0943-42E4-CC8A9A1C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273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165600-92CF-2EC6-6813-499B4047A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64DC58-2700-D8DE-EFFA-7E7CC47E0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C1B95D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FE792C-4A7F-47C0-D560-DC468CAE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171C7-B6FB-4A92-9D46-102E9B53BE43}" type="datetime1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8DCF3F-0A32-DAB6-A732-37895E0F0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73F8C6-A2DF-F86B-05A1-A63AE761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58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F7204E-EF77-3DDD-309F-75F9D8FEB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913B9-EA2C-594E-70EC-86FFEE442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DF4EC62-68B2-5D91-FD22-68B1B00A4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C44E48-C154-7BAF-0ADB-A490E5DC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1A68D-342C-4F4D-AC73-43753A0A2E67}" type="datetime1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8E7722-3F97-C763-BECC-29A10A19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FF1256F-53C5-A045-E9E8-C9501390B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369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3258A4-9A5E-D578-575D-4DDEA358D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26FD52-AA32-9615-B0C7-44A56F3E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CFA590-DB87-5B56-941F-8DA1254B4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B72980-66F3-C880-0AF6-1FB006D99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B1DFCE-6D2F-C18E-0EC4-FA7F4748F1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AE2EBA0-AFD5-8F43-198E-C57B91AE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3D788-D3DB-4A0F-B8A7-09B530F1AAD2}" type="datetime1">
              <a:rPr lang="fr-FR" smtClean="0"/>
              <a:t>18/03/2026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BA9D2BF-3DDA-DCB8-B7D9-29A255029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7C3B29-6809-C441-EA00-D04C5C88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485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AD369-D659-ADF6-49A2-F0628291B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7452CB-8D36-C000-7C9B-6AA2FFD36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E839-DDEE-41E6-BD66-92D81306A56F}" type="datetime1">
              <a:rPr lang="fr-FR" smtClean="0"/>
              <a:t>18/03/2026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6D083C9-6E46-ADE9-976A-151FBBEF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D624C3-717B-1003-204B-DD0A6BB2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07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115D83-400C-F2A0-9DCA-47BA09D5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F738C-F5A1-4732-AF81-919CA0DEC2C4}" type="datetime1">
              <a:rPr lang="fr-FR" smtClean="0"/>
              <a:t>18/03/2026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727856-7CB8-AE65-78DD-D2D1DF5B4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2A7F52-A4E7-5DE4-C825-8630E84E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7505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E65311-B622-FBDE-8BAC-A6928E71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EE35D9-EA03-ADD7-E1B3-E79521381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C68D11-CF66-4F2D-40FA-C0E39F0E1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E1F2F11-BEAB-484D-6F8F-98367BD3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9E1F6-8831-4F6F-B513-F75AAF47F1B7}" type="datetime1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CA5EB5-F5D9-ED63-130F-E5442BEB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D722E85-2903-A286-7D76-45920334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037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76F503-97A9-644D-783A-27B7EEEF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4E255CC-F5B1-F3E8-3655-659B90A63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CB0632-899B-7D1D-E798-263CEFEBD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27DEC1-22BF-45CA-4B02-C5A6F256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1FCAC-E8F0-40DF-998A-46CDAC19E13B}" type="datetime1">
              <a:rPr lang="fr-FR" smtClean="0"/>
              <a:t>18/03/2026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E7A5692-A4EE-6245-D9DA-D6981D04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672BC1-5EE8-D07B-1C8D-B830A89D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6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F9B62B-B22F-99A3-9909-AB400950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4BC064-4F32-4CD4-ED53-E03FCCD64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648EB1-78DC-244C-9AE1-48CA2EFC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B6411-1B7F-470A-B35F-7BD91C9D1AD5}" type="datetime1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7EEEB5-24B9-C3E9-50E8-ADE67233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07FDF6-2B93-35E0-F823-04E680D1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5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039AB3B-5395-0DF0-DE42-3DB823588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BE713F-F7C1-4BB4-D364-0F739ABF6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0E58C9-861F-BA9B-244C-BFD41FF3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28D15-B89B-4269-B7D7-21305AC434CA}" type="datetime1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095FAA-5394-2FAE-29F4-547DD4BA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A8CB58-366F-6911-28A6-65070621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47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B6B5B20-321C-4CA7-A046-D565F9CB4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25D80C-4DDD-2B2A-3001-A29CB5EB2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A27F61-C4B0-C089-71B2-A459B39F8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7067B-50DD-4E8F-BAB6-33FE51B05BF2}" type="datetime1">
              <a:rPr lang="fr-FR" smtClean="0"/>
              <a:t>18/03/2026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576385-FD35-FA74-E170-F332BB31D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AD6755-5256-AEB7-ACD4-B30A922C6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24DA5-967D-4FB6-BBB3-4C6100DE83F1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D4A7A5-FAAE-523A-4D62-3530E2591CE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857068" y="136525"/>
            <a:ext cx="2231300" cy="231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595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1B95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1B95D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1B95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1B95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1B95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BC3CE84C-3C51-9E11-8D15-D9626CF74625}"/>
              </a:ext>
            </a:extLst>
          </p:cNvPr>
          <p:cNvSpPr/>
          <p:nvPr/>
        </p:nvSpPr>
        <p:spPr>
          <a:xfrm>
            <a:off x="1057275" y="5753437"/>
            <a:ext cx="1726385" cy="5017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DBCE6B-DF81-6B09-D63A-8390F0FF6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5731" y="2573265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fr-FR" dirty="0"/>
              <a:t>Modélisation dynamique de la COVID-19 en France métropolitaine : Modèle SIR/SEIARDV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34D40BA-43B0-1B9F-524D-6F29C37E0F12}"/>
              </a:ext>
            </a:extLst>
          </p:cNvPr>
          <p:cNvCxnSpPr/>
          <p:nvPr/>
        </p:nvCxnSpPr>
        <p:spPr>
          <a:xfrm>
            <a:off x="1621404" y="2023533"/>
            <a:ext cx="0" cy="28109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D1D5A3D2-4D9A-64B9-C761-DFE3F749A065}"/>
              </a:ext>
            </a:extLst>
          </p:cNvPr>
          <p:cNvSpPr txBox="1"/>
          <p:nvPr/>
        </p:nvSpPr>
        <p:spPr>
          <a:xfrm>
            <a:off x="1130103" y="5823364"/>
            <a:ext cx="158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DICHAM Enzo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EAB2122-57E1-D7AE-8DF7-D7BCE3A33E5D}"/>
              </a:ext>
            </a:extLst>
          </p:cNvPr>
          <p:cNvSpPr/>
          <p:nvPr/>
        </p:nvSpPr>
        <p:spPr>
          <a:xfrm>
            <a:off x="5265175" y="5753437"/>
            <a:ext cx="1726385" cy="5017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FAD8B93-2989-CA99-D525-FE3E13B2D675}"/>
              </a:ext>
            </a:extLst>
          </p:cNvPr>
          <p:cNvSpPr txBox="1"/>
          <p:nvPr/>
        </p:nvSpPr>
        <p:spPr>
          <a:xfrm>
            <a:off x="5333956" y="5819624"/>
            <a:ext cx="158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NUM0101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09AF74A-5B43-804A-BA72-790AFDA5870C}"/>
              </a:ext>
            </a:extLst>
          </p:cNvPr>
          <p:cNvSpPr/>
          <p:nvPr/>
        </p:nvSpPr>
        <p:spPr>
          <a:xfrm>
            <a:off x="9338082" y="5753437"/>
            <a:ext cx="1726385" cy="5017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C9842D1-A06C-5DE8-75D3-03AE4799C028}"/>
              </a:ext>
            </a:extLst>
          </p:cNvPr>
          <p:cNvSpPr txBox="1"/>
          <p:nvPr/>
        </p:nvSpPr>
        <p:spPr>
          <a:xfrm>
            <a:off x="9410910" y="5823364"/>
            <a:ext cx="158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NUM0101</a:t>
            </a:r>
          </a:p>
        </p:txBody>
      </p:sp>
    </p:spTree>
    <p:extLst>
      <p:ext uri="{BB962C8B-B14F-4D97-AF65-F5344CB8AC3E}">
        <p14:creationId xmlns:p14="http://schemas.microsoft.com/office/powerpoint/2010/main" val="189786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9D387-A8D8-E52F-ECB3-F57EFD7D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de la pandémie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CA31B8-3C97-B659-C3DD-84448723D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Janvier 2020 </a:t>
            </a:r>
            <a:r>
              <a:rPr lang="fr-FR" dirty="0"/>
              <a:t>: arrivée du </a:t>
            </a:r>
            <a:r>
              <a:rPr lang="fr-FR" dirty="0">
                <a:solidFill>
                  <a:srgbClr val="FF0000"/>
                </a:solidFill>
              </a:rPr>
              <a:t>COVID-19</a:t>
            </a:r>
            <a:r>
              <a:rPr lang="fr-FR" dirty="0"/>
              <a:t> en France</a:t>
            </a:r>
          </a:p>
          <a:p>
            <a:r>
              <a:rPr lang="fr-FR" dirty="0"/>
              <a:t>Attention</a:t>
            </a:r>
          </a:p>
          <a:p>
            <a:pPr lvl="1"/>
            <a:r>
              <a:rPr lang="fr-FR" dirty="0"/>
              <a:t>Modèles simplifiés</a:t>
            </a:r>
          </a:p>
          <a:p>
            <a:pPr lvl="1"/>
            <a:r>
              <a:rPr lang="fr-FR" dirty="0"/>
              <a:t>But non prédictif</a:t>
            </a:r>
          </a:p>
          <a:p>
            <a:r>
              <a:rPr lang="fr-FR" dirty="0"/>
              <a:t>But du projet</a:t>
            </a:r>
          </a:p>
          <a:p>
            <a:pPr lvl="1"/>
            <a:r>
              <a:rPr lang="fr-FR" dirty="0">
                <a:solidFill>
                  <a:srgbClr val="FF0000"/>
                </a:solidFill>
              </a:rPr>
              <a:t>Introduction</a:t>
            </a:r>
            <a:r>
              <a:rPr lang="fr-FR" dirty="0"/>
              <a:t> au modèles basiques d’épidémiologie</a:t>
            </a:r>
          </a:p>
          <a:p>
            <a:pPr lvl="1"/>
            <a:r>
              <a:rPr lang="fr-FR" dirty="0"/>
              <a:t>Découvrir la </a:t>
            </a:r>
            <a:r>
              <a:rPr lang="fr-FR" dirty="0">
                <a:solidFill>
                  <a:srgbClr val="FF0000"/>
                </a:solidFill>
              </a:rPr>
              <a:t>modélisation scientifique </a:t>
            </a:r>
            <a:r>
              <a:rPr lang="fr-FR" dirty="0"/>
              <a:t>à travers un exemple simple</a:t>
            </a:r>
          </a:p>
          <a:p>
            <a:pPr lvl="1"/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A05DD77-E7C7-E395-9B81-37C77858F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4179BB-660D-DE8A-4C33-A356C883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30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69ABD5-6472-3466-0D71-BCF20AC6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SIR - Principe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7F4D8D-661A-90F9-7A6F-FB40887A1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S</a:t>
            </a:r>
            <a:r>
              <a:rPr lang="fr-FR" dirty="0"/>
              <a:t> : Susceptibles</a:t>
            </a:r>
          </a:p>
          <a:p>
            <a:r>
              <a:rPr lang="fr-FR" dirty="0">
                <a:solidFill>
                  <a:srgbClr val="FF0000"/>
                </a:solidFill>
              </a:rPr>
              <a:t>I </a:t>
            </a:r>
            <a:r>
              <a:rPr lang="fr-FR" dirty="0"/>
              <a:t>: Infectés</a:t>
            </a:r>
          </a:p>
          <a:p>
            <a:r>
              <a:rPr lang="fr-FR" dirty="0">
                <a:solidFill>
                  <a:srgbClr val="FF0000"/>
                </a:solidFill>
              </a:rPr>
              <a:t>R </a:t>
            </a:r>
            <a:r>
              <a:rPr lang="fr-FR" dirty="0"/>
              <a:t>: Retirés (immunisés)</a:t>
            </a:r>
          </a:p>
          <a:p>
            <a:r>
              <a:rPr lang="fr-FR" dirty="0"/>
              <a:t>Hypothèses :</a:t>
            </a:r>
          </a:p>
          <a:p>
            <a:pPr lvl="1"/>
            <a:r>
              <a:rPr lang="fr-FR" dirty="0"/>
              <a:t>Population constante</a:t>
            </a:r>
          </a:p>
          <a:p>
            <a:pPr lvl="1"/>
            <a:r>
              <a:rPr lang="fr-FR" dirty="0"/>
              <a:t>Immunité permanente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8FAB729-9083-392F-BA56-61B5B159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165AEA-6FEB-5D06-A720-39CFD49F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3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656420-2696-B08B-D9F4-41657621BC34}"/>
              </a:ext>
            </a:extLst>
          </p:cNvPr>
          <p:cNvSpPr/>
          <p:nvPr/>
        </p:nvSpPr>
        <p:spPr>
          <a:xfrm>
            <a:off x="2514600" y="4725821"/>
            <a:ext cx="1524000" cy="1451142"/>
          </a:xfrm>
          <a:prstGeom prst="rect">
            <a:avLst/>
          </a:prstGeom>
          <a:solidFill>
            <a:srgbClr val="EDE99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87F22F-D7AF-A6E0-9338-B1307B2490B4}"/>
              </a:ext>
            </a:extLst>
          </p:cNvPr>
          <p:cNvSpPr/>
          <p:nvPr/>
        </p:nvSpPr>
        <p:spPr>
          <a:xfrm>
            <a:off x="5334000" y="4725821"/>
            <a:ext cx="1524000" cy="1451142"/>
          </a:xfrm>
          <a:prstGeom prst="rect">
            <a:avLst/>
          </a:prstGeom>
          <a:solidFill>
            <a:srgbClr val="C7050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A2592A-CFF1-91A2-69FF-B709CBD83316}"/>
              </a:ext>
            </a:extLst>
          </p:cNvPr>
          <p:cNvSpPr/>
          <p:nvPr/>
        </p:nvSpPr>
        <p:spPr>
          <a:xfrm>
            <a:off x="8153400" y="4725821"/>
            <a:ext cx="1524000" cy="14511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18C7355-86DE-ED07-CCFB-7E144D319457}"/>
              </a:ext>
            </a:extLst>
          </p:cNvPr>
          <p:cNvSpPr txBox="1"/>
          <p:nvPr/>
        </p:nvSpPr>
        <p:spPr>
          <a:xfrm>
            <a:off x="3048000" y="5112495"/>
            <a:ext cx="449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S</a:t>
            </a:r>
            <a:endParaRPr lang="fr-FR" b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512BBDC-3306-BAD2-D9BB-76D2F7F3FCBD}"/>
              </a:ext>
            </a:extLst>
          </p:cNvPr>
          <p:cNvSpPr txBox="1"/>
          <p:nvPr/>
        </p:nvSpPr>
        <p:spPr>
          <a:xfrm>
            <a:off x="5871410" y="5112494"/>
            <a:ext cx="449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I</a:t>
            </a:r>
            <a:endParaRPr lang="fr-FR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5F5E4AD-B5CE-F201-9665-70FC512014D8}"/>
              </a:ext>
            </a:extLst>
          </p:cNvPr>
          <p:cNvSpPr txBox="1"/>
          <p:nvPr/>
        </p:nvSpPr>
        <p:spPr>
          <a:xfrm>
            <a:off x="8690810" y="5048158"/>
            <a:ext cx="449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dirty="0"/>
              <a:t>R</a:t>
            </a:r>
            <a:endParaRPr lang="fr-FR" b="1" dirty="0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A850D328-0D61-9707-9090-5C88FB127B09}"/>
              </a:ext>
            </a:extLst>
          </p:cNvPr>
          <p:cNvSpPr/>
          <p:nvPr/>
        </p:nvSpPr>
        <p:spPr>
          <a:xfrm>
            <a:off x="4198374" y="5309419"/>
            <a:ext cx="973394" cy="50818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BAD16652-EDA2-C85E-0FE4-497C40AA3F2F}"/>
              </a:ext>
            </a:extLst>
          </p:cNvPr>
          <p:cNvSpPr/>
          <p:nvPr/>
        </p:nvSpPr>
        <p:spPr>
          <a:xfrm>
            <a:off x="7019003" y="5309419"/>
            <a:ext cx="973394" cy="508180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75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6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502954-ACE4-5486-8300-1457683D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SIR - Explications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9A50F24-8D1E-05DB-3685-287B832C47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41822"/>
                <a:ext cx="9621253" cy="4351338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fr-FR" dirty="0">
                    <a:solidFill>
                      <a:srgbClr val="FF0000"/>
                    </a:solidFill>
                  </a:rPr>
                  <a:t>β</a:t>
                </a:r>
                <a:r>
                  <a:rPr lang="fr-FR" dirty="0"/>
                  <a:t> : Le </a:t>
                </a:r>
                <a:r>
                  <a:rPr lang="fr-FR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taux de transmission </a:t>
                </a:r>
                <a:r>
                  <a:rPr lang="fr-FR" dirty="0"/>
                  <a:t>(probabilité qu’un individu susceptible devienne infecté) </a:t>
                </a:r>
                <a:r>
                  <a:rPr lang="fr-FR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journalier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dirty="0">
                    <a:solidFill>
                      <a:srgbClr val="FF0000"/>
                    </a:solidFill>
                  </a:rPr>
                  <a:t>γ</a:t>
                </a:r>
                <a:r>
                  <a:rPr lang="fr-FR" dirty="0"/>
                  <a:t> : Le taux d’</a:t>
                </a:r>
                <a:r>
                  <a:rPr lang="fr-FR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évolution</a:t>
                </a:r>
                <a:r>
                  <a:rPr lang="fr-FR" dirty="0"/>
                  <a:t> avec lequel les infectés deviennent </a:t>
                </a:r>
                <a:r>
                  <a:rPr lang="fr-FR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retirés par jour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dirty="0">
                    <a:solidFill>
                      <a:srgbClr val="FF0000"/>
                    </a:solidFill>
                  </a:rPr>
                  <a:t>R</a:t>
                </a:r>
                <a:r>
                  <a:rPr lang="fr-FR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fr-FR" dirty="0"/>
                  <a:t> : Défini par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9A50F24-8D1E-05DB-3685-287B832C4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41822"/>
                <a:ext cx="9621253" cy="4351338"/>
              </a:xfrm>
              <a:blipFill>
                <a:blip r:embed="rId2"/>
                <a:stretch>
                  <a:fillRect l="-11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6212C9C-CA83-16E4-FF2F-5440AE517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BF8117-2BD4-C5B5-420E-32D4BB9CF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1158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E9F059-0391-403B-4284-A8CA77744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SIR - EDO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Espace réservé du contenu 6">
                <a:extLst>
                  <a:ext uri="{FF2B5EF4-FFF2-40B4-BE49-F238E27FC236}">
                    <a16:creationId xmlns:a16="http://schemas.microsoft.com/office/drawing/2014/main" id="{02E01D3F-DF02-95EB-481D-985C044FEA8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58757944"/>
                  </p:ext>
                </p:extLst>
              </p:nvPr>
            </p:nvGraphicFramePr>
            <p:xfrm>
              <a:off x="838200" y="1764774"/>
              <a:ext cx="9289026" cy="432139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644513">
                      <a:extLst>
                        <a:ext uri="{9D8B030D-6E8A-4147-A177-3AD203B41FA5}">
                          <a16:colId xmlns:a16="http://schemas.microsoft.com/office/drawing/2014/main" val="810847467"/>
                        </a:ext>
                      </a:extLst>
                    </a:gridCol>
                    <a:gridCol w="4644513">
                      <a:extLst>
                        <a:ext uri="{9D8B030D-6E8A-4147-A177-3AD203B41FA5}">
                          <a16:colId xmlns:a16="http://schemas.microsoft.com/office/drawing/2014/main" val="3344578843"/>
                        </a:ext>
                      </a:extLst>
                    </a:gridCol>
                  </a:tblGrid>
                  <a:tr h="424348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Équations différentielles ordinaires (SIR)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98061"/>
                      </a:ext>
                    </a:extLst>
                  </a:tr>
                  <a:tr h="141405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>
                              <a:effectLst/>
                            </a:rPr>
                            <a:t> </a:t>
                          </a:r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543596"/>
                      </a:ext>
                    </a:extLst>
                  </a:tr>
                  <a:tr h="42434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Équations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Descriptions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68576794"/>
                      </a:ext>
                    </a:extLst>
                  </a:tr>
                  <a:tr h="10632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f>
                                  <m:fPr>
                                    <m:ctrlPr>
                                      <a:rPr lang="fr-FR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num>
                                  <m:den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Taux de perte de personnes susceptibles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64201358"/>
                      </a:ext>
                    </a:extLst>
                  </a:tr>
                  <a:tr h="10632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num>
                                  <m:den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f>
                                  <m:fPr>
                                    <m:ctrlPr>
                                      <a:rPr lang="fr-FR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num>
                                  <m:den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Nouveaux infectés moins les personnes rétablies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6830301"/>
                      </a:ext>
                    </a:extLst>
                  </a:tr>
                  <a:tr h="106329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2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num>
                                  <m:den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fr-FR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Taux de guérison / retrait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76349502"/>
                      </a:ext>
                    </a:extLst>
                  </a:tr>
                  <a:tr h="141405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 dirty="0">
                              <a:effectLst/>
                            </a:rPr>
                            <a:t> </a:t>
                          </a:r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1432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Espace réservé du contenu 6">
                <a:extLst>
                  <a:ext uri="{FF2B5EF4-FFF2-40B4-BE49-F238E27FC236}">
                    <a16:creationId xmlns:a16="http://schemas.microsoft.com/office/drawing/2014/main" id="{02E01D3F-DF02-95EB-481D-985C044FEA8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58757944"/>
                  </p:ext>
                </p:extLst>
              </p:nvPr>
            </p:nvGraphicFramePr>
            <p:xfrm>
              <a:off x="838200" y="1764774"/>
              <a:ext cx="9289026" cy="432139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4644513">
                      <a:extLst>
                        <a:ext uri="{9D8B030D-6E8A-4147-A177-3AD203B41FA5}">
                          <a16:colId xmlns:a16="http://schemas.microsoft.com/office/drawing/2014/main" val="810847467"/>
                        </a:ext>
                      </a:extLst>
                    </a:gridCol>
                    <a:gridCol w="4644513">
                      <a:extLst>
                        <a:ext uri="{9D8B030D-6E8A-4147-A177-3AD203B41FA5}">
                          <a16:colId xmlns:a16="http://schemas.microsoft.com/office/drawing/2014/main" val="3344578843"/>
                        </a:ext>
                      </a:extLst>
                    </a:gridCol>
                  </a:tblGrid>
                  <a:tr h="424348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Équations différentielles ordinaires (SIR)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798061"/>
                      </a:ext>
                    </a:extLst>
                  </a:tr>
                  <a:tr h="141405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>
                              <a:effectLst/>
                            </a:rPr>
                            <a:t> </a:t>
                          </a:r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1543596"/>
                      </a:ext>
                    </a:extLst>
                  </a:tr>
                  <a:tr h="424348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Équations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Descriptions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68576794"/>
                      </a:ext>
                    </a:extLst>
                  </a:tr>
                  <a:tr h="106329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31" t="-98851" r="-100393" b="-2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Taux de perte de personnes susceptibles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64201358"/>
                      </a:ext>
                    </a:extLst>
                  </a:tr>
                  <a:tr h="106329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31" t="-197714" r="-100393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Nouveaux infectés moins les personnes rétablies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96830301"/>
                      </a:ext>
                    </a:extLst>
                  </a:tr>
                  <a:tr h="106329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31" t="-297714" r="-100393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400" kern="100" dirty="0">
                              <a:effectLst/>
                            </a:rPr>
                            <a:t>Taux de guérison / retrait</a:t>
                          </a:r>
                          <a:endParaRPr lang="fr-FR" sz="2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76349502"/>
                      </a:ext>
                    </a:extLst>
                  </a:tr>
                  <a:tr h="141405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 dirty="0">
                              <a:effectLst/>
                            </a:rPr>
                            <a:t> </a:t>
                          </a:r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14323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88F088-AA4D-196C-E314-4FA08D51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075A30-FC4F-3FA0-72F1-778E2A37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0545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87AD06-55D3-B5A9-D3F4-29E8C3B5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SIR – Données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206EE1-1E80-B9B2-05B6-29EE5EF3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6C76DD-8E76-B47E-1BAC-2C838279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6</a:t>
            </a:fld>
            <a:endParaRPr lang="fr-FR" dirty="0"/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78A27CAA-55EE-92BD-0E3C-6AB4B1AE69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320455"/>
              </p:ext>
            </p:extLst>
          </p:nvPr>
        </p:nvGraphicFramePr>
        <p:xfrm>
          <a:off x="838200" y="1825624"/>
          <a:ext cx="8994058" cy="4132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7029">
                  <a:extLst>
                    <a:ext uri="{9D8B030D-6E8A-4147-A177-3AD203B41FA5}">
                      <a16:colId xmlns:a16="http://schemas.microsoft.com/office/drawing/2014/main" val="3986845579"/>
                    </a:ext>
                  </a:extLst>
                </a:gridCol>
                <a:gridCol w="4497029">
                  <a:extLst>
                    <a:ext uri="{9D8B030D-6E8A-4147-A177-3AD203B41FA5}">
                      <a16:colId xmlns:a16="http://schemas.microsoft.com/office/drawing/2014/main" val="104543199"/>
                    </a:ext>
                  </a:extLst>
                </a:gridCol>
              </a:tblGrid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Nom du paramètre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800747"/>
                  </a:ext>
                </a:extLst>
              </a:tr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Population totale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67 000 000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19070"/>
                  </a:ext>
                </a:extLst>
              </a:tr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Infectés initiaux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6378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297046"/>
                  </a:ext>
                </a:extLst>
              </a:tr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Retirés initiaux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45717"/>
                  </a:ext>
                </a:extLst>
              </a:tr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Jours simulés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45514"/>
                  </a:ext>
                </a:extLst>
              </a:tr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Taux de 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889766"/>
                  </a:ext>
                </a:extLst>
              </a:tr>
              <a:tr h="590389">
                <a:tc>
                  <a:txBody>
                    <a:bodyPr/>
                    <a:lstStyle/>
                    <a:p>
                      <a:r>
                        <a:rPr lang="fr-FR" dirty="0"/>
                        <a:t>Taux de retrait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0.077 (1/13 jours)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358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976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D6FE6-075B-B973-194A-306BD2583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SIR - Résultats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7578A88-CE08-2BB1-F7EA-F0A8B107A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474580" cy="414607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fr-FR" dirty="0"/>
                  <a:t>Implémentation </a:t>
                </a:r>
                <a:r>
                  <a:rPr lang="fr-FR" dirty="0">
                    <a:solidFill>
                      <a:schemeClr val="accent1">
                        <a:lumMod val="75000"/>
                      </a:schemeClr>
                    </a:solidFill>
                  </a:rPr>
                  <a:t>Python</a:t>
                </a:r>
                <a:r>
                  <a:rPr lang="fr-FR" dirty="0"/>
                  <a:t> (</a:t>
                </a:r>
                <a:r>
                  <a:rPr lang="fr-FR" dirty="0" err="1">
                    <a:solidFill>
                      <a:schemeClr val="accent5"/>
                    </a:solidFill>
                  </a:rPr>
                  <a:t>SciPy</a:t>
                </a:r>
                <a:r>
                  <a:rPr lang="fr-FR" dirty="0"/>
                  <a:t> / </a:t>
                </a:r>
                <a:r>
                  <a:rPr lang="fr-FR" dirty="0" err="1">
                    <a:solidFill>
                      <a:schemeClr val="accent5"/>
                    </a:solidFill>
                  </a:rPr>
                  <a:t>MatPlotLib</a:t>
                </a:r>
                <a:r>
                  <a:rPr lang="fr-FR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fr-FR" dirty="0">
                    <a:solidFill>
                      <a:srgbClr val="FF0000"/>
                    </a:solidFill>
                  </a:rPr>
                  <a:t>R</a:t>
                </a:r>
                <a:r>
                  <a:rPr lang="fr-FR" baseline="-25000" dirty="0">
                    <a:solidFill>
                      <a:srgbClr val="FF0000"/>
                    </a:solidFill>
                  </a:rPr>
                  <a:t>0</a:t>
                </a:r>
                <a:r>
                  <a:rPr lang="fr-FR" dirty="0"/>
                  <a:t> : Défini par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</m:oMath>
                </a14:m>
                <a:endParaRPr lang="fr-FR" dirty="0"/>
              </a:p>
              <a:p>
                <a:pPr>
                  <a:lnSpc>
                    <a:spcPct val="150000"/>
                  </a:lnSpc>
                </a:pPr>
                <a:r>
                  <a:rPr lang="fr-FR" dirty="0"/>
                  <a:t>Résultats </a:t>
                </a:r>
                <a:r>
                  <a:rPr lang="fr-FR" dirty="0">
                    <a:solidFill>
                      <a:schemeClr val="accent5"/>
                    </a:solidFill>
                  </a:rPr>
                  <a:t>irréalistes</a:t>
                </a:r>
                <a:r>
                  <a:rPr lang="fr-FR" dirty="0"/>
                  <a:t> (ex : trop d’immunisés)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7578A88-CE08-2BB1-F7EA-F0A8B107A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474580" cy="4146074"/>
              </a:xfrm>
              <a:blipFill>
                <a:blip r:embed="rId2"/>
                <a:stretch>
                  <a:fillRect l="-24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0DE95DF-60EC-6471-2478-AB2F15D4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12B4C3-441D-3E83-40FB-2130F4AA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7</a:t>
            </a:fld>
            <a:endParaRPr lang="fr-FR" dirty="0"/>
          </a:p>
        </p:txBody>
      </p:sp>
      <p:pic>
        <p:nvPicPr>
          <p:cNvPr id="6" name="Image 5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1DA728FB-D9DD-BDE0-0BAD-C4E7E04EAC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925" y="1825625"/>
            <a:ext cx="6216439" cy="414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88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4AB0FF-72E1-70CD-022C-844F8896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Limites du modèle SIR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7524AE-18AC-D9F2-3CC7-41C8D4A53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fr-FR" sz="3200" dirty="0"/>
              <a:t>Paramètres de </a:t>
            </a:r>
            <a:r>
              <a:rPr lang="fr-FR" sz="3200" dirty="0">
                <a:solidFill>
                  <a:schemeClr val="accent5"/>
                </a:solidFill>
              </a:rPr>
              <a:t>population </a:t>
            </a:r>
            <a:r>
              <a:rPr lang="fr-FR" sz="3200" dirty="0"/>
              <a:t>et </a:t>
            </a:r>
            <a:r>
              <a:rPr lang="fr-FR" sz="3200" dirty="0">
                <a:solidFill>
                  <a:schemeClr val="accent5"/>
                </a:solidFill>
              </a:rPr>
              <a:t>mobilité</a:t>
            </a:r>
            <a:r>
              <a:rPr lang="fr-FR" sz="3200" dirty="0"/>
              <a:t> non réalistes</a:t>
            </a:r>
          </a:p>
          <a:p>
            <a:pPr>
              <a:lnSpc>
                <a:spcPct val="200000"/>
              </a:lnSpc>
            </a:pPr>
            <a:r>
              <a:rPr lang="fr-FR" sz="3200" dirty="0"/>
              <a:t>Catégorie d’infectés ‘</a:t>
            </a:r>
            <a:r>
              <a:rPr lang="fr-FR" sz="3200" dirty="0">
                <a:solidFill>
                  <a:srgbClr val="FF0000"/>
                </a:solidFill>
              </a:rPr>
              <a:t>I</a:t>
            </a:r>
            <a:r>
              <a:rPr lang="fr-FR" sz="3200" dirty="0"/>
              <a:t>’ </a:t>
            </a:r>
            <a:r>
              <a:rPr lang="fr-FR" sz="3200" dirty="0">
                <a:solidFill>
                  <a:schemeClr val="accent5"/>
                </a:solidFill>
              </a:rPr>
              <a:t>trop large</a:t>
            </a:r>
          </a:p>
          <a:p>
            <a:pPr>
              <a:lnSpc>
                <a:spcPct val="200000"/>
              </a:lnSpc>
            </a:pPr>
            <a:r>
              <a:rPr lang="fr-FR" sz="3200" dirty="0">
                <a:solidFill>
                  <a:schemeClr val="accent5"/>
                </a:solidFill>
              </a:rPr>
              <a:t>Immunité</a:t>
            </a:r>
            <a:r>
              <a:rPr lang="fr-FR" sz="3200" dirty="0"/>
              <a:t> définitive ≠ réalité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F04840C-C5C5-3B49-DEAE-B2FFE571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8AF718-ED8C-D479-E585-926EE55F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58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4AC357C-49C9-BCE4-0E59-7063F2AEB03E}"/>
              </a:ext>
            </a:extLst>
          </p:cNvPr>
          <p:cNvSpPr/>
          <p:nvPr/>
        </p:nvSpPr>
        <p:spPr>
          <a:xfrm>
            <a:off x="8375983" y="2733758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8E667C-12CE-9A8F-E075-358AA2F9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SEIARDV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DC32C1-74DA-54D5-D8B6-D0D7052A5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523" y="1636249"/>
            <a:ext cx="5239753" cy="52024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>
                <a:solidFill>
                  <a:schemeClr val="accent5"/>
                </a:solidFill>
              </a:rPr>
              <a:t>Nouveaux compartiments </a:t>
            </a:r>
            <a:r>
              <a:rPr lang="fr-FR" dirty="0"/>
              <a:t>: </a:t>
            </a:r>
            <a:r>
              <a:rPr lang="fr-FR" dirty="0">
                <a:solidFill>
                  <a:srgbClr val="FF0000"/>
                </a:solidFill>
              </a:rPr>
              <a:t>E</a:t>
            </a:r>
            <a:r>
              <a:rPr lang="fr-FR" dirty="0"/>
              <a:t>, </a:t>
            </a:r>
            <a:r>
              <a:rPr lang="fr-FR" dirty="0">
                <a:solidFill>
                  <a:srgbClr val="FF0000"/>
                </a:solidFill>
              </a:rPr>
              <a:t>A</a:t>
            </a:r>
            <a:r>
              <a:rPr lang="fr-FR" dirty="0"/>
              <a:t>, </a:t>
            </a:r>
            <a:r>
              <a:rPr lang="fr-FR" dirty="0">
                <a:solidFill>
                  <a:srgbClr val="FF0000"/>
                </a:solidFill>
              </a:rPr>
              <a:t>D</a:t>
            </a:r>
            <a:r>
              <a:rPr lang="fr-FR" dirty="0"/>
              <a:t>, </a:t>
            </a:r>
            <a:r>
              <a:rPr lang="fr-FR" dirty="0">
                <a:solidFill>
                  <a:srgbClr val="FF0000"/>
                </a:solidFill>
              </a:rPr>
              <a:t>V</a:t>
            </a:r>
          </a:p>
          <a:p>
            <a:pPr>
              <a:lnSpc>
                <a:spcPct val="100000"/>
              </a:lnSpc>
            </a:pPr>
            <a:r>
              <a:rPr lang="fr-FR" dirty="0">
                <a:solidFill>
                  <a:schemeClr val="accent5"/>
                </a:solidFill>
              </a:rPr>
              <a:t>Différenciation</a:t>
            </a:r>
            <a:r>
              <a:rPr lang="fr-FR" dirty="0"/>
              <a:t> symptomatiques/asymptomatiques</a:t>
            </a:r>
          </a:p>
          <a:p>
            <a:pPr>
              <a:lnSpc>
                <a:spcPct val="100000"/>
              </a:lnSpc>
            </a:pPr>
            <a:r>
              <a:rPr lang="fr-FR" dirty="0">
                <a:solidFill>
                  <a:schemeClr val="accent5"/>
                </a:solidFill>
              </a:rPr>
              <a:t>Ajout</a:t>
            </a:r>
            <a:r>
              <a:rPr lang="fr-FR" dirty="0"/>
              <a:t> incubation, mortalité, vaccination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1C3D2C0-EF37-BFA8-6725-42BDF350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7C03433-A070-D790-4D2E-4F3DC1BB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9</a:t>
            </a:fld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FB0D6F-901C-A363-E35F-C5E24032D324}"/>
              </a:ext>
            </a:extLst>
          </p:cNvPr>
          <p:cNvSpPr/>
          <p:nvPr/>
        </p:nvSpPr>
        <p:spPr>
          <a:xfrm>
            <a:off x="10198768" y="2733757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5B5D59-42B2-480E-5371-25F3BFFE35AE}"/>
              </a:ext>
            </a:extLst>
          </p:cNvPr>
          <p:cNvSpPr/>
          <p:nvPr/>
        </p:nvSpPr>
        <p:spPr>
          <a:xfrm>
            <a:off x="10198768" y="4262561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8854D-5CFB-A814-B4B6-6AF1853C05B6}"/>
              </a:ext>
            </a:extLst>
          </p:cNvPr>
          <p:cNvSpPr/>
          <p:nvPr/>
        </p:nvSpPr>
        <p:spPr>
          <a:xfrm>
            <a:off x="8375983" y="4262563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25412C-C9DA-11D4-183A-F9EECE3C0983}"/>
              </a:ext>
            </a:extLst>
          </p:cNvPr>
          <p:cNvSpPr/>
          <p:nvPr/>
        </p:nvSpPr>
        <p:spPr>
          <a:xfrm>
            <a:off x="6448924" y="4976843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64EE0C-EDE7-AF75-56E2-FA4DA328C441}"/>
              </a:ext>
            </a:extLst>
          </p:cNvPr>
          <p:cNvSpPr/>
          <p:nvPr/>
        </p:nvSpPr>
        <p:spPr>
          <a:xfrm>
            <a:off x="6448924" y="3431605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F499C-A95C-C486-F841-D76D0AAA05A8}"/>
              </a:ext>
            </a:extLst>
          </p:cNvPr>
          <p:cNvSpPr/>
          <p:nvPr/>
        </p:nvSpPr>
        <p:spPr>
          <a:xfrm>
            <a:off x="4519862" y="4976842"/>
            <a:ext cx="1155032" cy="11189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7D9273F-A018-D4AB-A798-2E2801098E91}"/>
              </a:ext>
            </a:extLst>
          </p:cNvPr>
          <p:cNvSpPr txBox="1"/>
          <p:nvPr/>
        </p:nvSpPr>
        <p:spPr>
          <a:xfrm>
            <a:off x="6805864" y="3667907"/>
            <a:ext cx="30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E</a:t>
            </a:r>
            <a:endParaRPr lang="fr-FR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7AEB930-F59A-178C-7938-39678F655AD4}"/>
              </a:ext>
            </a:extLst>
          </p:cNvPr>
          <p:cNvSpPr txBox="1"/>
          <p:nvPr/>
        </p:nvSpPr>
        <p:spPr>
          <a:xfrm>
            <a:off x="4878805" y="5235604"/>
            <a:ext cx="439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S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E2ED0E6-0398-0133-EE5A-29F867A5EF0A}"/>
              </a:ext>
            </a:extLst>
          </p:cNvPr>
          <p:cNvSpPr txBox="1"/>
          <p:nvPr/>
        </p:nvSpPr>
        <p:spPr>
          <a:xfrm>
            <a:off x="6789318" y="5213144"/>
            <a:ext cx="429629" cy="66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V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27396D1-E77A-EA5F-B10C-6D65F29FB47F}"/>
              </a:ext>
            </a:extLst>
          </p:cNvPr>
          <p:cNvSpPr txBox="1"/>
          <p:nvPr/>
        </p:nvSpPr>
        <p:spPr>
          <a:xfrm>
            <a:off x="8750968" y="2964547"/>
            <a:ext cx="549443" cy="667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I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83F6DFD-4647-E356-923C-205A06047AC6}"/>
              </a:ext>
            </a:extLst>
          </p:cNvPr>
          <p:cNvSpPr txBox="1"/>
          <p:nvPr/>
        </p:nvSpPr>
        <p:spPr>
          <a:xfrm>
            <a:off x="10531645" y="2985543"/>
            <a:ext cx="501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D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786CA9E-A3E2-04D3-9C2A-4CEDFDBBFA7B}"/>
              </a:ext>
            </a:extLst>
          </p:cNvPr>
          <p:cNvSpPr txBox="1"/>
          <p:nvPr/>
        </p:nvSpPr>
        <p:spPr>
          <a:xfrm>
            <a:off x="8750969" y="4498864"/>
            <a:ext cx="447170" cy="646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A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45404CE-BF51-E3F2-B5C7-F497F550571C}"/>
              </a:ext>
            </a:extLst>
          </p:cNvPr>
          <p:cNvSpPr txBox="1"/>
          <p:nvPr/>
        </p:nvSpPr>
        <p:spPr>
          <a:xfrm>
            <a:off x="10567736" y="4498866"/>
            <a:ext cx="465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R</a:t>
            </a:r>
            <a:endParaRPr lang="fr-FR" dirty="0"/>
          </a:p>
        </p:txBody>
      </p: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571D0D45-EE19-CFEA-E0A0-D37ECEF749CF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 flipV="1">
            <a:off x="5674894" y="3991074"/>
            <a:ext cx="774030" cy="1545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BDE96DEF-12C5-8F5A-BC27-71F8865AAE60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5674894" y="5536311"/>
            <a:ext cx="77403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8278702-8CB1-E6B7-5868-69AD8F9E7E36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7603956" y="3293227"/>
            <a:ext cx="772027" cy="697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5D2A0458-2C06-C3F9-80FA-FFDD4CE99E42}"/>
              </a:ext>
            </a:extLst>
          </p:cNvPr>
          <p:cNvCxnSpPr>
            <a:cxnSpLocks/>
            <a:stCxn id="14" idx="3"/>
            <a:endCxn id="11" idx="1"/>
          </p:cNvCxnSpPr>
          <p:nvPr/>
        </p:nvCxnSpPr>
        <p:spPr>
          <a:xfrm>
            <a:off x="7603956" y="3991074"/>
            <a:ext cx="772027" cy="830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8527F446-CEE4-FB45-8CAA-2B19C64A7E3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9531015" y="3293226"/>
            <a:ext cx="66775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1E5F18F9-6FC6-AF1C-50E6-16CA94663ACF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9531015" y="3293227"/>
            <a:ext cx="667753" cy="1528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BDF5E29C-FCEA-50EF-837D-71CFB7B4D62D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9531015" y="4822030"/>
            <a:ext cx="66775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10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92697-035C-2EE2-A8E5-4C551992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kern="1200" dirty="0">
                <a:latin typeface="+mj-lt"/>
                <a:ea typeface="+mj-ea"/>
                <a:cs typeface="+mj-cs"/>
              </a:rPr>
              <a:t>Le modèle SEIARDV - Théorie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F610E7C-F7B1-F257-3A05-7485853AA53C}"/>
                  </a:ext>
                </a:extLst>
              </p:cNvPr>
              <p:cNvSpPr txBox="1"/>
              <p:nvPr/>
            </p:nvSpPr>
            <p:spPr>
              <a:xfrm>
                <a:off x="6172200" y="1825625"/>
                <a:ext cx="5181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280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fr-FR" sz="2800" i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fr-FR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fr-FR" sz="2800" i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fr-FR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fr-FR" sz="28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fr-FR" sz="2800" dirty="0">
                  <a:solidFill>
                    <a:schemeClr val="accent1"/>
                  </a:solidFill>
                </a:endParaRP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fr-FR" sz="2800" dirty="0">
                    <a:solidFill>
                      <a:schemeClr val="accent1"/>
                    </a:solidFill>
                  </a:rPr>
                  <a:t>Donnés tirées de </a:t>
                </a:r>
                <a:r>
                  <a:rPr lang="fr-FR" sz="2800" dirty="0">
                    <a:solidFill>
                      <a:schemeClr val="accent2">
                        <a:lumMod val="75000"/>
                      </a:schemeClr>
                    </a:solidFill>
                  </a:rPr>
                  <a:t>« Santé Public France »</a:t>
                </a: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EF610E7C-F7B1-F257-3A05-7485853AA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5625"/>
                <a:ext cx="5181600" cy="4351338"/>
              </a:xfrm>
              <a:prstGeom prst="rect">
                <a:avLst/>
              </a:prstGeom>
              <a:blipFill>
                <a:blip r:embed="rId2"/>
                <a:stretch>
                  <a:fillRect l="-21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482C47-8766-8215-8C75-EB690B90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FR" sz="900" kern="1200">
                <a:latin typeface="+mn-lt"/>
                <a:ea typeface="+mn-ea"/>
                <a:cs typeface="+mn-cs"/>
              </a:rPr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E5A3E9D-BF79-B909-40BD-7A534BBA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724DA5-967D-4FB6-BBB3-4C6100DE83F1}" type="slidenum">
              <a:rPr lang="fr-FR" smtClean="0"/>
              <a:pPr>
                <a:spcAft>
                  <a:spcPts val="600"/>
                </a:spcAft>
              </a:pPr>
              <a:t>10</a:t>
            </a:fld>
            <a:endParaRPr lang="fr-FR"/>
          </a:p>
        </p:txBody>
      </p:sp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6E56F39F-3E2B-814B-4431-757E4130EF0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38642377"/>
              </p:ext>
            </p:extLst>
          </p:nvPr>
        </p:nvGraphicFramePr>
        <p:xfrm>
          <a:off x="856262" y="1825625"/>
          <a:ext cx="5145477" cy="43513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8706">
                  <a:extLst>
                    <a:ext uri="{9D8B030D-6E8A-4147-A177-3AD203B41FA5}">
                      <a16:colId xmlns:a16="http://schemas.microsoft.com/office/drawing/2014/main" val="218662928"/>
                    </a:ext>
                  </a:extLst>
                </a:gridCol>
                <a:gridCol w="4076771">
                  <a:extLst>
                    <a:ext uri="{9D8B030D-6E8A-4147-A177-3AD203B41FA5}">
                      <a16:colId xmlns:a16="http://schemas.microsoft.com/office/drawing/2014/main" val="520054541"/>
                    </a:ext>
                  </a:extLst>
                </a:gridCol>
              </a:tblGrid>
              <a:tr h="31343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</a:rPr>
                        <a:t>Symbole</a:t>
                      </a:r>
                      <a:endParaRPr lang="fr-F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>
                          <a:effectLst/>
                        </a:rPr>
                        <a:t>Nom du paramètre</a:t>
                      </a:r>
                      <a:endParaRPr lang="fr-FR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3456081846"/>
                  </a:ext>
                </a:extLst>
              </a:tr>
              <a:tr h="58563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β</a:t>
                      </a:r>
                      <a:r>
                        <a:rPr lang="fr-FR" sz="3200" kern="100" baseline="-25000" dirty="0">
                          <a:effectLst/>
                        </a:rPr>
                        <a:t>I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transmission des personnes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symptomatiques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422297339"/>
                  </a:ext>
                </a:extLst>
              </a:tr>
              <a:tr h="58563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β</a:t>
                      </a:r>
                      <a:r>
                        <a:rPr lang="fr-FR" sz="2800" kern="100" baseline="-25000" dirty="0">
                          <a:effectLst/>
                        </a:rPr>
                        <a:t>A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transmission des personnes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asymptomatique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3959517297"/>
                  </a:ext>
                </a:extLst>
              </a:tr>
              <a:tr h="3390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σ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d’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incubation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952399138"/>
                  </a:ext>
                </a:extLst>
              </a:tr>
              <a:tr h="3390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ρ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Proportion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symptomatique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3355870415"/>
                  </a:ext>
                </a:extLst>
              </a:tr>
              <a:tr h="58563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 err="1">
                          <a:effectLst/>
                        </a:rPr>
                        <a:t>γ</a:t>
                      </a:r>
                      <a:r>
                        <a:rPr lang="fr-FR" sz="2800" kern="100" baseline="-25000" dirty="0" err="1">
                          <a:effectLst/>
                        </a:rPr>
                        <a:t>I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</a:t>
                      </a:r>
                      <a:r>
                        <a:rPr lang="fr-FR" sz="1600" kern="100" dirty="0">
                          <a:solidFill>
                            <a:schemeClr val="accent5"/>
                          </a:solidFill>
                          <a:effectLst/>
                        </a:rPr>
                        <a:t>guérison</a:t>
                      </a:r>
                      <a:r>
                        <a:rPr lang="fr-FR" sz="1600" kern="100" dirty="0">
                          <a:effectLst/>
                        </a:rPr>
                        <a:t> des personnes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asymptomatique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3696423271"/>
                  </a:ext>
                </a:extLst>
              </a:tr>
              <a:tr h="58563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400" kern="100" dirty="0" err="1">
                          <a:effectLst/>
                        </a:rPr>
                        <a:t>γ</a:t>
                      </a:r>
                      <a:r>
                        <a:rPr lang="fr-FR" sz="3200" kern="100" baseline="-25000" dirty="0" err="1">
                          <a:effectLst/>
                        </a:rPr>
                        <a:t>A</a:t>
                      </a:r>
                      <a:endParaRPr lang="fr-FR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</a:t>
                      </a:r>
                      <a:r>
                        <a:rPr lang="fr-FR" sz="1600" kern="100" dirty="0">
                          <a:solidFill>
                            <a:schemeClr val="accent5"/>
                          </a:solidFill>
                          <a:effectLst/>
                        </a:rPr>
                        <a:t>guérison</a:t>
                      </a:r>
                      <a:r>
                        <a:rPr lang="fr-FR" sz="1600" kern="100" dirty="0">
                          <a:effectLst/>
                        </a:rPr>
                        <a:t> des personnes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asymptomatique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3031302562"/>
                  </a:ext>
                </a:extLst>
              </a:tr>
              <a:tr h="3390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α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mortalité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1847197014"/>
                  </a:ext>
                </a:extLst>
              </a:tr>
              <a:tr h="3390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δ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vaccination</a:t>
                      </a:r>
                      <a:endParaRPr lang="fr-FR" sz="1600" kern="100" dirty="0">
                        <a:solidFill>
                          <a:srgbClr val="FF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2185210428"/>
                  </a:ext>
                </a:extLst>
              </a:tr>
              <a:tr h="33907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000" kern="100" dirty="0">
                          <a:effectLst/>
                        </a:rPr>
                        <a:t>R</a:t>
                      </a:r>
                      <a:r>
                        <a:rPr lang="fr-FR" sz="2000" kern="100" baseline="-25000" dirty="0">
                          <a:effectLst/>
                        </a:rPr>
                        <a:t>e</a:t>
                      </a:r>
                      <a:endParaRPr lang="fr-FR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600" kern="100" dirty="0">
                          <a:effectLst/>
                        </a:rPr>
                        <a:t>Taux de </a:t>
                      </a:r>
                      <a:r>
                        <a:rPr lang="fr-FR" sz="1600" kern="100" dirty="0">
                          <a:solidFill>
                            <a:srgbClr val="FF0000"/>
                          </a:solidFill>
                          <a:effectLst/>
                        </a:rPr>
                        <a:t>reproduction</a:t>
                      </a:r>
                      <a:r>
                        <a:rPr lang="fr-FR" sz="1600" kern="100" dirty="0">
                          <a:effectLst/>
                        </a:rPr>
                        <a:t> effectif</a:t>
                      </a:r>
                      <a:endParaRPr lang="fr-FR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198" marR="79198" marT="0" marB="0"/>
                </a:tc>
                <a:extLst>
                  <a:ext uri="{0D108BD9-81ED-4DB2-BD59-A6C34878D82A}">
                    <a16:rowId xmlns:a16="http://schemas.microsoft.com/office/drawing/2014/main" val="744315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229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E3BDF-64FB-A108-AD26-E5A29B8D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modèle SEIARDV - Théorie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Espace réservé du contenu 5">
                <a:extLst>
                  <a:ext uri="{FF2B5EF4-FFF2-40B4-BE49-F238E27FC236}">
                    <a16:creationId xmlns:a16="http://schemas.microsoft.com/office/drawing/2014/main" id="{4261EFD7-7934-C45F-E964-4F508655DE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21292778"/>
                  </p:ext>
                </p:extLst>
              </p:nvPr>
            </p:nvGraphicFramePr>
            <p:xfrm>
              <a:off x="1755971" y="1690688"/>
              <a:ext cx="7978746" cy="4598798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989373">
                      <a:extLst>
                        <a:ext uri="{9D8B030D-6E8A-4147-A177-3AD203B41FA5}">
                          <a16:colId xmlns:a16="http://schemas.microsoft.com/office/drawing/2014/main" val="3271161061"/>
                        </a:ext>
                      </a:extLst>
                    </a:gridCol>
                    <a:gridCol w="3989373">
                      <a:extLst>
                        <a:ext uri="{9D8B030D-6E8A-4147-A177-3AD203B41FA5}">
                          <a16:colId xmlns:a16="http://schemas.microsoft.com/office/drawing/2014/main" val="1346356994"/>
                        </a:ext>
                      </a:extLst>
                    </a:gridCol>
                  </a:tblGrid>
                  <a:tr h="241061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800" kern="100" dirty="0">
                              <a:effectLst/>
                            </a:rPr>
                            <a:t>Equations différentielles ordinaires (SIEARDV)</a:t>
                          </a:r>
                          <a:endParaRPr lang="fr-F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277752"/>
                      </a:ext>
                    </a:extLst>
                  </a:tr>
                  <a:tr h="73752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>
                              <a:effectLst/>
                            </a:rPr>
                            <a:t> </a:t>
                          </a:r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591259"/>
                      </a:ext>
                    </a:extLst>
                  </a:tr>
                  <a:tr h="24106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000" kern="100" dirty="0">
                              <a:effectLst/>
                            </a:rPr>
                            <a:t>Equations</a:t>
                          </a:r>
                          <a:endParaRPr lang="fr-FR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800" kern="100" dirty="0">
                              <a:effectLst/>
                            </a:rPr>
                            <a:t>Descriptions</a:t>
                          </a:r>
                          <a:endParaRPr lang="fr-F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28801832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4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fr-FR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1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fr-FR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fr-FR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fr-FR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r>
                                  <a:rPr lang="fr-FR" sz="1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fr-FR" sz="14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de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 S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30129521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num>
                                  <m:den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ⅆ</m:t>
                                    </m:r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de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 E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25340967"/>
                      </a:ext>
                    </a:extLst>
                  </a:tr>
                  <a:tr h="53873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dI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dt</m:t>
                                    </m:r>
                                  </m:den>
                                </m:f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 = 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 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 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 − </m:t>
                                </m:r>
                                <m:d>
                                  <m:d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12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 sz="12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γ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fr-FR" sz="12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 + 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</m:d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 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oMath>
                            </m:oMathPara>
                          </a14:m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de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I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735537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num>
                                  <m:den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 A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82390114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𝑑𝑅</m:t>
                                    </m:r>
                                  </m:num>
                                  <m:den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γ</m:t>
                                    </m:r>
                                  </m:e>
                                  <m:sub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</m:sSub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R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11551433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𝑑𝑉</m:t>
                                    </m:r>
                                  </m:num>
                                  <m:den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oMath>
                            </m:oMathPara>
                          </a14:m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V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72189398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fr-FR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𝑑𝐷</m:t>
                                    </m:r>
                                  </m:num>
                                  <m:den>
                                    <m:r>
                                      <a:rPr lang="fr-FR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a:rPr lang="fr-FR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D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2992919"/>
                      </a:ext>
                    </a:extLst>
                  </a:tr>
                  <a:tr h="92190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 dirty="0">
                              <a:effectLst/>
                            </a:rPr>
                            <a:t> </a:t>
                          </a:r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1388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Espace réservé du contenu 5">
                <a:extLst>
                  <a:ext uri="{FF2B5EF4-FFF2-40B4-BE49-F238E27FC236}">
                    <a16:creationId xmlns:a16="http://schemas.microsoft.com/office/drawing/2014/main" id="{4261EFD7-7934-C45F-E964-4F508655DE0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21292778"/>
                  </p:ext>
                </p:extLst>
              </p:nvPr>
            </p:nvGraphicFramePr>
            <p:xfrm>
              <a:off x="1755971" y="1690688"/>
              <a:ext cx="7978746" cy="459860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989373">
                      <a:extLst>
                        <a:ext uri="{9D8B030D-6E8A-4147-A177-3AD203B41FA5}">
                          <a16:colId xmlns:a16="http://schemas.microsoft.com/office/drawing/2014/main" val="3271161061"/>
                        </a:ext>
                      </a:extLst>
                    </a:gridCol>
                    <a:gridCol w="3989373">
                      <a:extLst>
                        <a:ext uri="{9D8B030D-6E8A-4147-A177-3AD203B41FA5}">
                          <a16:colId xmlns:a16="http://schemas.microsoft.com/office/drawing/2014/main" val="1346356994"/>
                        </a:ext>
                      </a:extLst>
                    </a:gridCol>
                  </a:tblGrid>
                  <a:tr h="299911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800" kern="100" dirty="0">
                              <a:effectLst/>
                            </a:rPr>
                            <a:t>Equations différentielles ordinaires (SIEARDV)</a:t>
                          </a:r>
                          <a:endParaRPr lang="fr-F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6277752"/>
                      </a:ext>
                    </a:extLst>
                  </a:tr>
                  <a:tr h="73752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>
                              <a:effectLst/>
                            </a:rPr>
                            <a:t> </a:t>
                          </a:r>
                          <a:endParaRPr lang="fr-FR" sz="1200" kern="10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3591259"/>
                      </a:ext>
                    </a:extLst>
                  </a:tr>
                  <a:tr h="33324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2000" kern="100" dirty="0">
                              <a:effectLst/>
                            </a:rPr>
                            <a:t>Equations</a:t>
                          </a:r>
                          <a:endParaRPr lang="fr-FR" sz="20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800" kern="100" dirty="0">
                              <a:effectLst/>
                            </a:rPr>
                            <a:t>Descriptions</a:t>
                          </a:r>
                          <a:endParaRPr lang="fr-FR" sz="18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28801832"/>
                      </a:ext>
                    </a:extLst>
                  </a:tr>
                  <a:tr h="56743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133333" r="-100611" b="-589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de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 S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30129521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243820" r="-100611" b="-515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de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 E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25340967"/>
                      </a:ext>
                    </a:extLst>
                  </a:tr>
                  <a:tr h="53873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347727" r="-100611" b="-4215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de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I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735537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442697" r="-100611" b="-3168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 A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82390114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548864" r="-100611" b="-220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R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11551433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648864" r="-100611" b="-120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V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072189398"/>
                      </a:ext>
                    </a:extLst>
                  </a:tr>
                  <a:tr h="53866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3" t="-740449" r="-100611" b="-19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1200" kern="100" dirty="0">
                              <a:effectLst/>
                            </a:rPr>
                            <a:t>Taux de Changement </a:t>
                          </a:r>
                          <a:r>
                            <a:rPr lang="fr-FR" sz="12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D</a:t>
                          </a:r>
                          <a:endParaRPr lang="fr-FR" sz="1200" kern="100" dirty="0">
                            <a:solidFill>
                              <a:srgbClr val="FF0000"/>
                            </a:solidFill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92992919"/>
                      </a:ext>
                    </a:extLst>
                  </a:tr>
                  <a:tr h="92190">
                    <a:tc gridSpan="2"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fr-FR" sz="400" kern="100" dirty="0">
                              <a:effectLst/>
                            </a:rPr>
                            <a:t> </a:t>
                          </a:r>
                          <a:endParaRPr lang="fr-FR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091388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8752D3-8762-A8CB-EF57-8B16B1F2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20F40D-A990-7DE7-3112-E6A16899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081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80A5B9-CF70-DDBB-D72A-7D59D0C4C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SEIARDV - Résultats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C3B39C-2760-E303-0269-61DA68842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29715" cy="44537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/>
              <a:t>Courbes plus réalistes (Mais toujours </a:t>
            </a:r>
            <a:r>
              <a:rPr lang="fr-FR" dirty="0">
                <a:solidFill>
                  <a:schemeClr val="accent5"/>
                </a:solidFill>
              </a:rPr>
              <a:t>moyennes</a:t>
            </a:r>
            <a:r>
              <a:rPr lang="fr-FR" dirty="0"/>
              <a:t>)</a:t>
            </a:r>
          </a:p>
          <a:p>
            <a:pPr>
              <a:lnSpc>
                <a:spcPct val="100000"/>
              </a:lnSpc>
            </a:pPr>
            <a:r>
              <a:rPr lang="fr-FR" dirty="0"/>
              <a:t>Analyse du </a:t>
            </a:r>
            <a:r>
              <a:rPr lang="fr-FR" dirty="0">
                <a:solidFill>
                  <a:schemeClr val="accent5"/>
                </a:solidFill>
              </a:rPr>
              <a:t>pic épidémique </a:t>
            </a:r>
            <a:r>
              <a:rPr lang="fr-FR" dirty="0"/>
              <a:t>(≈ 80 jours)</a:t>
            </a:r>
          </a:p>
          <a:p>
            <a:pPr>
              <a:lnSpc>
                <a:spcPct val="100000"/>
              </a:lnSpc>
            </a:pPr>
            <a:r>
              <a:rPr lang="fr-FR" dirty="0"/>
              <a:t>≈ </a:t>
            </a:r>
            <a:r>
              <a:rPr lang="fr-FR" dirty="0">
                <a:solidFill>
                  <a:schemeClr val="accent5"/>
                </a:solidFill>
              </a:rPr>
              <a:t>1%</a:t>
            </a:r>
            <a:r>
              <a:rPr lang="fr-FR" dirty="0"/>
              <a:t> de mortalité (</a:t>
            </a:r>
            <a:r>
              <a:rPr lang="fr-FR" dirty="0">
                <a:solidFill>
                  <a:schemeClr val="accent5"/>
                </a:solidFill>
              </a:rPr>
              <a:t>670 000</a:t>
            </a:r>
            <a:r>
              <a:rPr lang="fr-FR" dirty="0"/>
              <a:t> personnes bien différent du chiffre réel de </a:t>
            </a:r>
            <a:r>
              <a:rPr lang="fr-FR" dirty="0">
                <a:solidFill>
                  <a:schemeClr val="accent5"/>
                </a:solidFill>
              </a:rPr>
              <a:t>30 000 </a:t>
            </a:r>
            <a:r>
              <a:rPr lang="fr-FR" dirty="0" err="1">
                <a:solidFill>
                  <a:schemeClr val="accent5"/>
                </a:solidFill>
              </a:rPr>
              <a:t>dèces</a:t>
            </a:r>
            <a:r>
              <a:rPr lang="fr-FR" dirty="0"/>
              <a:t>) </a:t>
            </a:r>
          </a:p>
        </p:txBody>
      </p:sp>
      <p:pic>
        <p:nvPicPr>
          <p:cNvPr id="6" name="Image 5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6C11CEE0-84A5-E51C-175E-990C7E368E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72" y="2030425"/>
            <a:ext cx="6629828" cy="4044194"/>
          </a:xfrm>
          <a:prstGeom prst="rect">
            <a:avLst/>
          </a:prstGeom>
          <a:noFill/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498D1F9-3633-34D0-C58E-042A58FF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FR" sz="900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62B060-D425-5465-08CE-7D0CA8F3A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724DA5-967D-4FB6-BBB3-4C6100DE83F1}" type="slidenum">
              <a:rPr lang="fr-FR" smtClean="0"/>
              <a:pPr>
                <a:spcAft>
                  <a:spcPts val="600"/>
                </a:spcAft>
              </a:pPr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5971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409EC5-F3CD-253B-7FB2-1887CC11F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Impact du vaccin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5AE3B3-F8CF-8486-5200-D41EF07EF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689"/>
            <a:ext cx="10515600" cy="4351338"/>
          </a:xfrm>
        </p:spPr>
        <p:txBody>
          <a:bodyPr/>
          <a:lstStyle/>
          <a:p>
            <a:r>
              <a:rPr lang="fr-FR" dirty="0"/>
              <a:t>Test de </a:t>
            </a:r>
            <a:r>
              <a:rPr lang="fr-FR" dirty="0">
                <a:solidFill>
                  <a:schemeClr val="accent5"/>
                </a:solidFill>
              </a:rPr>
              <a:t>différents taux </a:t>
            </a:r>
            <a:r>
              <a:rPr lang="el-GR" dirty="0">
                <a:solidFill>
                  <a:schemeClr val="accent5"/>
                </a:solidFill>
              </a:rPr>
              <a:t>δ</a:t>
            </a:r>
            <a:endParaRPr lang="fr-FR" dirty="0">
              <a:solidFill>
                <a:schemeClr val="accent5"/>
              </a:solidFill>
            </a:endParaRPr>
          </a:p>
          <a:p>
            <a:r>
              <a:rPr lang="fr-FR" dirty="0"/>
              <a:t>Même un </a:t>
            </a:r>
            <a:r>
              <a:rPr lang="el-GR" dirty="0">
                <a:solidFill>
                  <a:schemeClr val="accent5"/>
                </a:solidFill>
              </a:rPr>
              <a:t>δ</a:t>
            </a:r>
            <a:r>
              <a:rPr lang="fr-FR" dirty="0"/>
              <a:t> élevé peine à réduire la vague si le </a:t>
            </a:r>
            <a:r>
              <a:rPr lang="fr-FR" dirty="0">
                <a:solidFill>
                  <a:srgbClr val="FF0000"/>
                </a:solidFill>
              </a:rPr>
              <a:t>R</a:t>
            </a:r>
            <a:r>
              <a:rPr lang="fr-FR" baseline="-25000" dirty="0">
                <a:solidFill>
                  <a:srgbClr val="FF0000"/>
                </a:solidFill>
              </a:rPr>
              <a:t>0 </a:t>
            </a:r>
            <a:r>
              <a:rPr lang="fr-FR" dirty="0">
                <a:solidFill>
                  <a:srgbClr val="FF0000"/>
                </a:solidFill>
              </a:rPr>
              <a:t> = 2,95</a:t>
            </a:r>
          </a:p>
          <a:p>
            <a:r>
              <a:rPr lang="fr-FR" dirty="0"/>
              <a:t>Modèle cohérent avec la réalité d’un </a:t>
            </a:r>
            <a:r>
              <a:rPr lang="fr-FR" dirty="0">
                <a:solidFill>
                  <a:srgbClr val="FF0000"/>
                </a:solidFill>
              </a:rPr>
              <a:t>R</a:t>
            </a:r>
            <a:r>
              <a:rPr lang="fr-FR" baseline="-25000" dirty="0">
                <a:solidFill>
                  <a:srgbClr val="FF0000"/>
                </a:solidFill>
              </a:rPr>
              <a:t>0 </a:t>
            </a:r>
            <a:r>
              <a:rPr lang="fr-FR" dirty="0"/>
              <a:t> très fort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465854-BFCC-4D10-EF0E-D2637D3B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9BFCE5-9845-2EC1-AE5B-6861F3E6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13</a:t>
            </a:fld>
            <a:endParaRPr lang="fr-FR" dirty="0"/>
          </a:p>
        </p:txBody>
      </p:sp>
      <p:pic>
        <p:nvPicPr>
          <p:cNvPr id="6" name="Image 5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1C7B252D-DE7C-6A9F-918A-ADD083CC2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4" t="7971" r="7074" b="6969"/>
          <a:stretch>
            <a:fillRect/>
          </a:stretch>
        </p:blipFill>
        <p:spPr>
          <a:xfrm>
            <a:off x="3535161" y="3064185"/>
            <a:ext cx="5121677" cy="3013003"/>
          </a:xfrm>
          <a:prstGeom prst="rect">
            <a:avLst/>
          </a:prstGeom>
        </p:spPr>
      </p:pic>
      <p:pic>
        <p:nvPicPr>
          <p:cNvPr id="7" name="Image 6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C260F971-6E50-F3CB-B9E3-B94AE2DAB1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" t="4682" r="7226" b="5228"/>
          <a:stretch>
            <a:fillRect/>
          </a:stretch>
        </p:blipFill>
        <p:spPr>
          <a:xfrm>
            <a:off x="3622034" y="3064185"/>
            <a:ext cx="4947932" cy="3188396"/>
          </a:xfrm>
          <a:prstGeom prst="rect">
            <a:avLst/>
          </a:prstGeom>
        </p:spPr>
      </p:pic>
      <p:pic>
        <p:nvPicPr>
          <p:cNvPr id="8" name="Image 7" descr="Une image contenant texte, lign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1E5C9E0-BCB6-E878-13DB-787754BF11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t="7005" r="5782" b="8119"/>
          <a:stretch>
            <a:fillRect/>
          </a:stretch>
        </p:blipFill>
        <p:spPr>
          <a:xfrm>
            <a:off x="3560904" y="3187693"/>
            <a:ext cx="5070189" cy="294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7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FD2D2-B400-9ED5-6972-3F537EB0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Suite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BA8CC2-9F9D-DBBD-ED21-F86802B98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Étendre la simulation à une carte de la France métropolitaine</a:t>
            </a:r>
          </a:p>
          <a:p>
            <a:pPr lvl="1"/>
            <a:r>
              <a:rPr lang="fr-FR" dirty="0"/>
              <a:t>En modélisant par exemple 1 point pour 10 000 habitants</a:t>
            </a:r>
          </a:p>
          <a:p>
            <a:pPr lvl="1"/>
            <a:r>
              <a:rPr lang="fr-FR" dirty="0"/>
              <a:t>En prenant en compte la répartition de population par régions</a:t>
            </a:r>
          </a:p>
          <a:p>
            <a:r>
              <a:rPr lang="fr-FR" dirty="0"/>
              <a:t>Gestion mobilité / migration (début de la pandémie)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8B75C8-3238-124F-FA50-8D0D1E52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10A351-0F38-38A7-A352-5E35493A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754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87083-349D-141A-DEFD-02B5FB18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513" y="2766218"/>
            <a:ext cx="7640973" cy="1325563"/>
          </a:xfrm>
        </p:spPr>
        <p:txBody>
          <a:bodyPr>
            <a:normAutofit/>
          </a:bodyPr>
          <a:lstStyle/>
          <a:p>
            <a:r>
              <a:rPr lang="fr-FR" sz="6000" dirty="0"/>
              <a:t>Merci de votre attention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EC3B3B-27DD-4FFC-9ACC-611F99D98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D3F989F-A061-93E1-93FC-6D52E7CC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15</a:t>
            </a:fld>
            <a:endParaRPr lang="fr-FR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E249B38-923A-4B6F-61A0-ED080D6C2659}"/>
              </a:ext>
            </a:extLst>
          </p:cNvPr>
          <p:cNvCxnSpPr/>
          <p:nvPr/>
        </p:nvCxnSpPr>
        <p:spPr>
          <a:xfrm>
            <a:off x="2374084" y="3858936"/>
            <a:ext cx="72900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687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1311D9-58CF-EE9F-5533-1F7599DE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7C25AB-049A-CBAD-94CD-0BA08E6F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Texte</a:t>
            </a:r>
          </a:p>
          <a:p>
            <a:pPr lvl="1"/>
            <a:r>
              <a:rPr lang="fr-FR" dirty="0"/>
              <a:t>Sous texte</a:t>
            </a:r>
          </a:p>
          <a:p>
            <a:pPr lvl="2"/>
            <a:r>
              <a:rPr lang="fr-FR" dirty="0"/>
              <a:t>Sous texte 2</a:t>
            </a:r>
          </a:p>
          <a:p>
            <a:pPr lvl="3"/>
            <a:r>
              <a:rPr lang="fr-FR" dirty="0" err="1"/>
              <a:t>Blabla</a:t>
            </a:r>
            <a:endParaRPr lang="fr-FR" dirty="0"/>
          </a:p>
          <a:p>
            <a:pPr lvl="4"/>
            <a:r>
              <a:rPr lang="fr-FR" dirty="0"/>
              <a:t>Je ne suis pas parti d’un modèle établi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2B3CC6-0ED7-FCD1-03CA-8D872423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Modélisation dynamique de la COVID-19 en France métropolitaine : Modèle SIR/SEIAR  -  Enzo Dicham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0E4BB3-F1A0-B260-92C7-EEACA9FD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24DA5-967D-4FB6-BBB3-4C6100DE83F1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18052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F8A5AF6A56A845B0963046F33F00D7" ma:contentTypeVersion="1" ma:contentTypeDescription="Crée un document." ma:contentTypeScope="" ma:versionID="31ef0d461770a66c20ba97f3081698d1">
  <xsd:schema xmlns:xsd="http://www.w3.org/2001/XMLSchema" xmlns:xs="http://www.w3.org/2001/XMLSchema" xmlns:p="http://schemas.microsoft.com/office/2006/metadata/properties" xmlns:ns3="f9468957-69b8-4f91-8004-65eb1a84167d" targetNamespace="http://schemas.microsoft.com/office/2006/metadata/properties" ma:root="true" ma:fieldsID="39b583c5899de903cab8ae40ca7821a0" ns3:_="">
    <xsd:import namespace="f9468957-69b8-4f91-8004-65eb1a84167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468957-69b8-4f91-8004-65eb1a84167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D3A0E99-5544-4962-AA1C-FDAFC4AC21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DBB47F-E8B5-40D7-ACED-6B23B4A4B0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468957-69b8-4f91-8004-65eb1a8416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B664F5-CEE2-42EE-80A5-9FCC5F849074}">
  <ds:schemaRefs>
    <ds:schemaRef ds:uri="http://www.w3.org/XML/1998/namespace"/>
    <ds:schemaRef ds:uri="f9468957-69b8-4f91-8004-65eb1a84167d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</TotalTime>
  <Words>821</Words>
  <Application>Microsoft Office PowerPoint</Application>
  <PresentationFormat>Grand écran</PresentationFormat>
  <Paragraphs>165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Thème Office</vt:lpstr>
      <vt:lpstr>Modélisation dynamique de la COVID-19 en France métropolitaine : Modèle SIR/SEIARDV</vt:lpstr>
      <vt:lpstr>Contexte de la pandémie</vt:lpstr>
      <vt:lpstr>Le modèle SIR - Principe</vt:lpstr>
      <vt:lpstr>Le modèle SIR - Explications</vt:lpstr>
      <vt:lpstr>Le modèle SIR - EDO</vt:lpstr>
      <vt:lpstr>Le modèle SIR – Données</vt:lpstr>
      <vt:lpstr>Le modèle SIR - Résultats</vt:lpstr>
      <vt:lpstr>Limites du modèle SIR</vt:lpstr>
      <vt:lpstr>Le modèle SEIARDV</vt:lpstr>
      <vt:lpstr>Le modèle SEIARDV - Théorie</vt:lpstr>
      <vt:lpstr>Le modèle SEIARDV - Théorie</vt:lpstr>
      <vt:lpstr>SEIARDV - Résultats</vt:lpstr>
      <vt:lpstr>Impact du vaccin</vt:lpstr>
      <vt:lpstr>Suite du projet</vt:lpstr>
      <vt:lpstr>Merci de votre attention</vt:lpstr>
      <vt:lpstr>Titre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ENZO DICHAM</dc:creator>
  <cp:lastModifiedBy>ENZO DICHAM</cp:lastModifiedBy>
  <cp:revision>36</cp:revision>
  <dcterms:created xsi:type="dcterms:W3CDTF">2025-11-15T17:05:04Z</dcterms:created>
  <dcterms:modified xsi:type="dcterms:W3CDTF">2026-03-18T13:26:09Z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0x010100B8F8A5AF6A56A845B0963046F33F00D7</vt:lpwstr>
  </property>
</Properties>
</file>